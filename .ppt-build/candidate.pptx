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d3a82e26c64c3c" /><Relationship Type="http://schemas.openxmlformats.org/officeDocument/2006/relationships/extended-properties" Target="/docProps/app.xml" Id="R9bf1266868a34e6e" /><Relationship Type="http://schemas.openxmlformats.org/officeDocument/2006/relationships/officeDocument" Target="/ppt/presentation.xml" Id="Rfebce236b9ab47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439ce662184144"/>
  </p:sldMasterIdLst>
  <p:notesMasterIdLst>
    <p:notesMasterId xmlns:r="http://schemas.openxmlformats.org/officeDocument/2006/relationships" r:id="R8065efba8aba4fc9"/>
  </p:notesMasterIdLst>
  <p:sldIdLst>
    <p:sldId xmlns:r="http://schemas.openxmlformats.org/officeDocument/2006/relationships" id="256" r:id="Rcdaea0c683e64327"/>
    <p:sldId xmlns:r="http://schemas.openxmlformats.org/officeDocument/2006/relationships" id="257" r:id="R98bbf546379c4cd3"/>
    <p:sldId xmlns:r="http://schemas.openxmlformats.org/officeDocument/2006/relationships" id="258" r:id="R2cfd4452d1954405"/>
    <p:sldId xmlns:r="http://schemas.openxmlformats.org/officeDocument/2006/relationships" id="259" r:id="R8c36cb068ba34042"/>
    <p:sldId xmlns:r="http://schemas.openxmlformats.org/officeDocument/2006/relationships" id="260" r:id="R2090727a2c79445a"/>
    <p:sldId xmlns:r="http://schemas.openxmlformats.org/officeDocument/2006/relationships" id="261" r:id="Ra484b2efaab140c7"/>
    <p:sldId xmlns:r="http://schemas.openxmlformats.org/officeDocument/2006/relationships" id="262" r:id="Rded76a168aee40fb"/>
    <p:sldId xmlns:r="http://schemas.openxmlformats.org/officeDocument/2006/relationships" id="263" r:id="R952fd23eaf80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b200278a44bf3" /><Relationship Type="http://schemas.openxmlformats.org/officeDocument/2006/relationships/slideMaster" Target="/ppt/slideMasters/slideMaster1.xml" Id="Rbe439ce662184144" /><Relationship Type="http://schemas.openxmlformats.org/officeDocument/2006/relationships/notesMaster" Target="/ppt/notesMasters/notesMaster1.xml" Id="R8065efba8aba4fc9" /><Relationship Type="http://schemas.openxmlformats.org/officeDocument/2006/relationships/presProps" Target="/ppt/presProps.xml" Id="R3a2c9872f25c4af4" /><Relationship Type="http://schemas.openxmlformats.org/officeDocument/2006/relationships/tableStyles" Target="/ppt/tableStyles.xml" Id="Rfcb7bde245d54f76" /><Relationship Type="http://schemas.openxmlformats.org/officeDocument/2006/relationships/slide" Target="/ppt/slides/slide1.xml" Id="Rcdaea0c683e64327" /><Relationship Type="http://schemas.openxmlformats.org/officeDocument/2006/relationships/slide" Target="/ppt/slides/slide2.xml" Id="R98bbf546379c4cd3" /><Relationship Type="http://schemas.openxmlformats.org/officeDocument/2006/relationships/slide" Target="/ppt/slides/slide3.xml" Id="R2cfd4452d1954405" /><Relationship Type="http://schemas.openxmlformats.org/officeDocument/2006/relationships/slide" Target="/ppt/slides/slide4.xml" Id="R8c36cb068ba34042" /><Relationship Type="http://schemas.openxmlformats.org/officeDocument/2006/relationships/slide" Target="/ppt/slides/slide5.xml" Id="R2090727a2c79445a" /><Relationship Type="http://schemas.openxmlformats.org/officeDocument/2006/relationships/slide" Target="/ppt/slides/slide6.xml" Id="Ra484b2efaab140c7" /><Relationship Type="http://schemas.openxmlformats.org/officeDocument/2006/relationships/slide" Target="/ppt/slides/slide7.xml" Id="Rded76a168aee40fb" /><Relationship Type="http://schemas.openxmlformats.org/officeDocument/2006/relationships/slide" Target="/ppt/slides/slide8.xml" Id="R952fd23eaf80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c4b1ad3aa4d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611ad7b8c7455f" /><Relationship Type="http://schemas.openxmlformats.org/officeDocument/2006/relationships/notesMaster" Target="/ppt/notesMasters/notesMaster1.xml" Id="R437c837f7ee041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c1668ade734511" /><Relationship Type="http://schemas.openxmlformats.org/officeDocument/2006/relationships/notesMaster" Target="/ppt/notesMasters/notesMaster1.xml" Id="R754fe567c80b4f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69122931c4663" /><Relationship Type="http://schemas.openxmlformats.org/officeDocument/2006/relationships/notesMaster" Target="/ppt/notesMasters/notesMaster1.xml" Id="R132c254f741c4a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d01be17d1849e3" /><Relationship Type="http://schemas.openxmlformats.org/officeDocument/2006/relationships/notesMaster" Target="/ppt/notesMasters/notesMaster1.xml" Id="R42a14ccaeb5d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f00e3420a447be" /><Relationship Type="http://schemas.openxmlformats.org/officeDocument/2006/relationships/notesMaster" Target="/ppt/notesMasters/notesMaster1.xml" Id="R00197f1e5c9445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9e0ce25518446c" /><Relationship Type="http://schemas.openxmlformats.org/officeDocument/2006/relationships/notesMaster" Target="/ppt/notesMasters/notesMaster1.xml" Id="R874d28036e2f48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784882a55e4cce" /><Relationship Type="http://schemas.openxmlformats.org/officeDocument/2006/relationships/notesMaster" Target="/ppt/notesMasters/notesMaster1.xml" Id="Rc3728c4a289242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2d47fcacc64dbf" /><Relationship Type="http://schemas.openxmlformats.org/officeDocument/2006/relationships/notesMaster" Target="/ppt/notesMasters/notesMaster1.xml" Id="R6340689bfed04d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pitch prepared from the E-Estimate repository README and product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framing is a product-positioning summary, not a quantified market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capability summary based on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names and visual sourced from E-Estimate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synthesized from README and repository structure, including Typst print compilation and Tauri packaging.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Regional focus stated in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delivery details are sourced from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d6a2798a84f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7012a8148d4266" /><Relationship Type="http://schemas.openxmlformats.org/officeDocument/2006/relationships/slideLayout" Target="/ppt/slideLayouts/slideLayout1.xml" Id="R16f97d2d0481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f97d2d0481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9bfbc3e4c4300" /><Relationship Type="http://schemas.openxmlformats.org/officeDocument/2006/relationships/image" Target="/ppt/media/image.png" Id="Rc0cc4fb582414e96" /><Relationship Type="http://schemas.openxmlformats.org/officeDocument/2006/relationships/notesSlide" Target="/ppt/notesSlides/notesSlide1.xml" Id="Rfd32327b10874c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624bc1138404f" /><Relationship Type="http://schemas.openxmlformats.org/officeDocument/2006/relationships/notesSlide" Target="/ppt/notesSlides/notesSlide2.xml" Id="R124e5be8555c4e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6cd98774a4476" /><Relationship Type="http://schemas.openxmlformats.org/officeDocument/2006/relationships/image" Target="/ppt/media/image2.png" Id="Rfc67a94d1c7e4aad" /><Relationship Type="http://schemas.openxmlformats.org/officeDocument/2006/relationships/notesSlide" Target="/ppt/notesSlides/notesSlide3.xml" Id="R6abe471ab01040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87a864b6a4124" /><Relationship Type="http://schemas.openxmlformats.org/officeDocument/2006/relationships/image" Target="/ppt/media/image3.png" Id="Rfe5db12090124885" /><Relationship Type="http://schemas.openxmlformats.org/officeDocument/2006/relationships/notesSlide" Target="/ppt/notesSlides/notesSlide4.xml" Id="R5b377d95c9b945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df0fe3b174b7c" /><Relationship Type="http://schemas.openxmlformats.org/officeDocument/2006/relationships/notesSlide" Target="/ppt/notesSlides/notesSlide5.xml" Id="Ra0e49450040b40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321c8a88844cc" /><Relationship Type="http://schemas.openxmlformats.org/officeDocument/2006/relationships/notesSlide" Target="/ppt/notesSlides/notesSlide6.xml" Id="Reaf081e886c341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04ded22674321" /><Relationship Type="http://schemas.openxmlformats.org/officeDocument/2006/relationships/notesSlide" Target="/ppt/notesSlides/notesSlide7.xml" Id="Rb98d9d4932ff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322d065e34a53" /><Relationship Type="http://schemas.openxmlformats.org/officeDocument/2006/relationships/notesSlide" Target="/ppt/notesSlides/notesSlide8.xml" Id="R3ed54b5951814f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c4fb582414e96"/>
          <a:srcRect xmlns:a="http://schemas.openxmlformats.org/drawingml/2006/main" l="0" t="9596" r="0" b="9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69E9F-37FF-40A0-86F0-97B0E48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D71A4-B679-4F51-B591-616FF933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D6F44-ECE2-4071-8D93-3DCA87E2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E-ESTIMATE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73AC2-6CCD-483D-9077-EE6C284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Construction estimates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that stay connected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F1412-E387-4845-9DB1-B5706F84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62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8E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8EE"/>
                </a:solidFill>
                <a:latin typeface="Aptos"/>
                <a:ea typeface="Aptos"/>
                <a:cs typeface="Aptos"/>
              </a:rPr>
              <a:t>A Windows desktop workspace for Telangana SOR/SSR estimate preparation, calculation and print-ready documentation.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4DDDB-AAF8-4877-BCB7-2D6904A7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B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5CBD8"/>
                </a:solidFill>
                <a:latin typeface="Aptos"/>
                <a:ea typeface="Aptos"/>
                <a:cs typeface="Aptos"/>
              </a:rPr>
              <a:t>Software pitch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20481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0090D-D501-4B09-8AAE-29E543A6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C4491-AF34-447A-AD45-2EA1C55D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The estimate process spans too many disconnected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3DB9C-D943-4D5D-AEF7-5D08E3DE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Teams need one working record from item selection to the final document.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E3B21-80A9-48E3-9C2F-BC7331E2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C5D12-8069-43E0-83A8-FF3EE649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49035-F874-4753-8580-C63CEA4B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0C2AD-EAC9-478B-A451-3A37E59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Estimate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1FC31-274E-4AE8-B679-ADBBCC1C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Item quantities, rates and project data must remain traceable.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31031-6D78-4E83-8DDD-68F97A5F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14325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008C3-F916-4AE6-8F01-97DFA9C7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36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43C0D-28BF-4B17-B976-8CFA5C47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Technical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26BDA-F19C-4B39-A506-8D9E45C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Lead, rate analysis, seigniorage and bund work add calculation depth.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038D9-DCE7-4AF8-83BA-DA5A954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14325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25DCD-464A-40E9-A65C-A9484751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CA828-1A22-4757-B78B-3D396D9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ACA0B-54F4-4A85-BEB9-ED457B76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Stakeholders need consistent, print-ready project documents.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17D34-DBE0-4F34-8928-4DEBC59B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E-Estimate keeps these workflows in a single desktop workspace.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EAB2B-BC45-4BA3-B81D-51E17C5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 |  CONFIDENTIAL PRODUCT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F8BE4-316A-47AD-9333-93B88858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3190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47ED0-C630-495F-B295-711D906A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5D8C8-E734-4B74-B11C-7925860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One workspace for the estimate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99BF7-B23B-4A8E-8A5F-655AAEB4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keeps project data, calculations and output preparation close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CB1E8-1400-49DF-8380-A9AB96AA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94A8E-050D-49CA-B1ED-69E4E6C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495800" cy="308610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DE4B3-1956-44B0-B15B-B9EF83F0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The operating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A6F6B-E836-4200-A36A-DE5BCCC9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3543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the estimate once.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same project data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through calculation and print.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0EDE0-5F91-43CD-B5AE-D7FCE12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3381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9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9E2"/>
                </a:solidFill>
                <a:latin typeface="Aptos"/>
                <a:ea typeface="Aptos"/>
                <a:cs typeface="Aptos"/>
              </a:rPr>
              <a:t>A desktop application designed for estimation work, not a collection of loose spreadsheets.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a94d1c7e4aad"/>
          <a:srcRect xmlns:a="http://schemas.openxmlformats.org/drawingml/2006/main" l="0" t="30048" r="0" b="30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2171700"/>
            <a:ext cx="5772150" cy="3257550"/>
          </a:xfrm>
          <a:prstGeom xmlns:a="http://schemas.openxmlformats.org/drawingml/2006/main" prst="roundRect">
            <a:avLst>
              <a:gd name="adj" fmla="val 584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C21EC-7233-4D4C-8CC2-AD2ED9D3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 |  CONFIDENTIAL PRODUCT PITCH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C3596-DECD-4098-A1DE-650284BA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0108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F5C4FA-4DD1-4C76-93E2-E034B63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C83C-1D6F-4BBD-940F-9A075BE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Core estimation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F9807-7F9A-4E87-9B43-47DCA1CD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Purpose-built modules keep specialist work connected to the project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F11CF-7B4E-4640-A0CA-090D2A1C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7BDEA-91CC-4D3B-A6ED-5AA960A5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E997A-5251-44AA-86EE-96DBB793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F33FD-30C8-4E08-BC59-2C88E098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050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SOR / SSR catalogue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5FF75-F881-4230-A898-7FD40502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Find and reuse schedule items.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67406-04C7-4C49-ADDF-7A5285B0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A020C-BC6B-443E-8EBB-284334BE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4FC51-D2E7-4CA1-A784-C433E1D1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124F4-9661-4A5D-ADC8-6008B2F0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Rate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A4CF8-E985-4845-9964-833E4E24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Build transparent rate inputs.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0EAD1-237C-49F0-9467-280A7DB3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58FB3-41AB-4118-8570-B3F39D27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32C34-D0E7-4F34-839B-C6D24B7D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54886-BA5D-4422-A98D-25E30F06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528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Lead calculations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31BFC-8BED-428D-8B73-46413165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Model material movement and leads.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69342-0559-4ADA-96E4-5956E6A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4812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C517E-2283-4F83-80E3-84313B1D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86DDD-3D4A-4929-9D7C-7A688ABD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971EB-A3E9-46CD-AA95-C7965BB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767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Seigniorage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D4FB3-745E-44D9-8FED-517B22B6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529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Handle applicable royalty workflows.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94504-5205-45A0-B272-4D3F80E3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34CD7-5577-4602-94AE-789938BE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59A3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18DE2-75A5-44CB-9578-629A93C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0280B-18CB-4C8C-95E3-97DF3CEB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006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Bund 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B1B6F-0EF6-4930-A765-09E760F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768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Prepare bund data and simulation inputs.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db12090124885"/>
          <a:stretch xmlns:a="http://schemas.openxmlformats.org/drawingml/2006/main"/>
        </p:blipFill>
        <p:spPr>
          <a:xfrm xmlns:a="http://schemas.openxmlformats.org/drawingml/2006/main">
            <a:off x="5619750" y="2485067"/>
            <a:ext cx="5219700" cy="2287916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76C25-4E6E-4E35-A247-80407468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34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Bund workflow visual from the product repository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8CA44-7861-4533-906C-54DFDB3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 |  CONFIDENTIAL PRODUCT PITCH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438FC-4E3D-4630-A022-D3E3D126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5046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DBED6-395A-4714-8990-003D89D2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6A099-6431-4759-B962-49F63E40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From project data to print-ready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05A83-A11A-4033-99C6-8281898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The same project record supports calculation, review and formal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10537-C7AE-4A24-BEBA-66D70FB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0C05D-C6B0-4668-A9F8-8FFC0EA7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3241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FC799-1DA8-4BA7-A9F0-51B37C88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AE0AE-D50D-428E-9CD9-DBBA8B10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Project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1B945-3999-4EDA-B110-333B76E3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Capture estimate data in the project workspace.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83E91-6DF5-4CCF-92C3-22BD0D9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38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A54BE-FA41-43B1-BFB8-5372ECC2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23241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AFEE0-87E0-44AA-BAE4-08AEDE9B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B8ED8-7735-4424-B79B-BD45BDED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B08C3-FEA3-4E65-9EF2-C991B88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Apply rate, lead, seigniorage and related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E9B33-F233-46FE-A628-417211DB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38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009D8-3C54-405A-9458-7AE32963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23241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A63F5-5EB2-40CA-8377-C75D869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2C202-8614-46DA-ACD0-9F763344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Document preparation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134C5-F5E7-4522-87BD-4DA54F8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Assemble the project book and required print content.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9BF05-1973-4C57-9F05-6FD3EB91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0314B-7368-4ECE-BB6D-0F04CB0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3241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4136B-B481-406D-A195-D585684C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4B7A7-33BC-494F-AD91-7266BB34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Windows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C071C-8BC8-43EB-9F27-05743E91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Package the desktop app for installation and use.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1A5C4-9167-43FB-B628-CE0CF0AF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Project data remains central throughout the workflow.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F3F2A-F3B0-4C7A-AEFF-BDB9F027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 |  CONFIDENTIAL PRODUCT PITCH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65A60-E1CF-4E52-9224-EEA18BD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3067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1C105-CF5E-4BA3-9576-D9AB039D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46497-DC79-4C65-86D4-74326137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Designed around Telangana SOR/SSR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E0E18-FE4A-42CF-BD0D-08C047F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focuses the product on the rules and documents that estimation teams already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8C00C-B243-43BC-98E2-0BA32EC9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6A771-52F8-46E6-B705-69974FE5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2457450"/>
          </a:xfrm>
          <a:prstGeom xmlns:a="http://schemas.openxmlformats.org/drawingml/2006/main" prst="roundRect">
            <a:avLst>
              <a:gd name="adj" fmla="val 852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1D365-E829-4ACE-AB90-AD2425D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TELANGANA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C7D9E-7A0F-43C0-B3CA-257A8458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5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domain-specific estimation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B0D56-A813-46A7-A807-726D88B8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2E8"/>
                </a:solidFill>
                <a:latin typeface="Aptos"/>
                <a:ea typeface="Aptos"/>
                <a:cs typeface="Aptos"/>
              </a:rPr>
              <a:t>The product brings SOR/SSR catalogue work, rate analysis, leads, seigniorage and project output into one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42C4E-2260-42BA-B7E5-3064B93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24765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59A3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A217D-3E9D-44F2-AC84-DBE55351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670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FOCUSED</a:t>
            </a:r>
          </a:p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75C31-74A4-4E53-B7EC-9386EB4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0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Built around the estimation process.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E0173-30D8-497E-A2F1-958C4565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 |  CONFIDENTIAL PRODUCT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E6D7B-56F6-4767-8AC7-975DC9B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3624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15925-0DA8-46BC-97F6-685B4F1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645F2-C01E-4545-8B98-6A3D87C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Desktop delivery for everyday estimation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8BD1E-EAE0-4C44-ABDD-BF67C64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ships as a packaged Windows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B0C58-41BA-4D04-A332-771BBCC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4A7C0-FEA4-4615-A7C9-C5337A7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2004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1BB9B-6072-4D6F-86A4-2A82E8C6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B7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8F72C-81FD-499F-9B32-FD919188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Windows desktop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5EE13-C3D2-4EF0-B579-1751A2E0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A native desktop shell built with Tauri 2 and WebView2.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A51FA-E3B2-4600-AA6F-69EA06C2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2004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1AB62-3E84-4DE9-A797-C1787125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A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20980-1AE1-4B8D-BBF1-67463B4F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Print-ready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64B43-447F-4DEA-A680-AC74EE4F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38525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Typst-based document compilation supports formal estimate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F5A92-E92C-4213-8A53-4306964B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32004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0B3DB-06BE-46CD-8118-C0BA15D0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3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43025-3209-4D0C-AFA7-F8B4826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Packaged 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68A6F-546F-461A-B0BE-0D0C8B60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38525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0"/>
                </a:solidFill>
                <a:latin typeface="Aptos"/>
                <a:ea typeface="Aptos"/>
                <a:cs typeface="Aptos"/>
              </a:rPr>
              <a:t>The project produces a Windows NSIS installer.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45145-E117-4F4D-8F07-4516A669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A"/>
                </a:solidFill>
                <a:latin typeface="Aptos"/>
                <a:ea typeface="Aptos"/>
                <a:cs typeface="Aptos"/>
              </a:rPr>
              <a:t>The pitch can support a product demo, pilot discussion or stakeholder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756F9-DDA9-4580-A99F-E3DA7BD7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E-ESTIMATE  |  CONFIDENTIAL PRODUCT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9351D-CA00-4378-969C-B585F78B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71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71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2128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43095-FBDE-49F7-99C3-48632B5A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E-ESTIMATE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CDF95-B6D3-4C59-8219-3C616964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76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25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clearer working record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every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38F1C-DAEB-473A-B0C3-A0C2FA8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EB7C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EB7C5"/>
                </a:solidFill>
                <a:latin typeface="Aptos"/>
                <a:ea typeface="Aptos"/>
                <a:cs typeface="Aptos"/>
              </a:rPr>
              <a:t>Next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AEC36-DB94-43C3-B7F8-D32D7F56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8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8E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CE8EE"/>
                </a:solidFill>
                <a:latin typeface="Aptos"/>
                <a:ea typeface="Aptos"/>
                <a:cs typeface="Aptos"/>
              </a:rPr>
              <a:t>Select a pilot estimate, walk through the workflow, and define the output needed by your team.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27400-8843-4AAF-9F93-ED292FC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C56D5-CED1-4970-8C75-4E673C1E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81CB5-0D18-4A84-AD67-A073CC58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B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5CBD8"/>
                </a:solidFill>
                <a:latin typeface="Aptos"/>
                <a:ea typeface="Aptos"/>
                <a:cs typeface="Aptos"/>
              </a:rPr>
              <a:t>E-Estimate  |  Construction cost estimation software</a:t>
            </a:r>
          </a:p>
        </p:txBody>
      </p:sp>
    </p:spTree>
    <p:extLst>
      <p:ext uri="{BB962C8B-B14F-4D97-AF65-F5344CB8AC3E}">
        <p14:creationId xmlns:p14="http://schemas.microsoft.com/office/powerpoint/2010/main" val="1963540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2026-09-09T06:50:51.3560000Z</dcterms:created>
  <dcterms:modified xsi:type="dcterms:W3CDTF">2026-09-09T06:50:51.3560000Z</dcterms:modified>
</coreProperties>
</file>